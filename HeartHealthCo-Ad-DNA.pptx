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CLIENTS  ·  HEARTHEALTHCO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Ad DNA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patterns, structures, and language behind every ad that converts.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 and Shoulder Belt — two products, one proven formula.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243584" cy="292608"/>
          </a:xfrm>
          <a:prstGeom prst="roundRect">
            <a:avLst>
              <a:gd name="adj" fmla="val 12500"/>
            </a:avLst>
          </a:prstGeom>
          <a:solidFill>
            <a:srgbClr val="A64B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374904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D6B8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37490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BELT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749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Tissue Reset  ·  Deep Shoulder Reset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snapshot. Two products, four winning ads, and the creative DNA we keep building from.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AFAF8"/>
          </a:solidFill>
          <a:ln/>
          <a:effectLst>
            <a:outerShdw sx="100000" sy="100000" kx="0" ky="0" algn="bl" rotWithShape="0" blurRad="50800" dist="25400" dir="108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371600"/>
            <a:ext cx="5193792" cy="54864"/>
          </a:xfrm>
          <a:prstGeom prst="rect">
            <a:avLst/>
          </a:prstGeom>
          <a:solidFill>
            <a:srgbClr val="A64B2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00200"/>
            <a:ext cx="1243584" cy="292608"/>
          </a:xfrm>
          <a:prstGeom prst="roundRect">
            <a:avLst>
              <a:gd name="adj" fmla="val 12500"/>
            </a:avLst>
          </a:prstGeom>
          <a:solidFill>
            <a:srgbClr val="A64B2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2 "The 14 Month" &amp; AD 8 "The Specialist"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488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avoidance — countdown dread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2706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surgery wait became the best thing that happened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PAINPOINT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48840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she needs surgery, dreading the countdown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48840" y="3364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 (dominant)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694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48840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Result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488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Tissue Reset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352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48840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Longform Native (#46 Text)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37160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AFAF8"/>
          </a:solidFill>
          <a:ln/>
          <a:effectLst>
            <a:outerShdw sx="100000" sy="100000" kx="0" ky="0" algn="bl" rotWithShape="0" blurRad="50800" dist="25400" dir="108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18504" y="1371600"/>
            <a:ext cx="5193792" cy="54864"/>
          </a:xfrm>
          <a:prstGeom prst="rect">
            <a:avLst/>
          </a:prstGeom>
          <a:solidFill>
            <a:srgbClr val="2D6B8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160020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D6B8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6002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BELT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1 "Kitchen Shelf" &amp; AD 4 "Forty-Five Minutes"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181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function loss / gender gap in diagnosis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18120" y="2706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independence loss + being dismissed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PAINPOINT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18120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reach shelf, can't sleep on side, dismissed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18120" y="3364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 (dominant)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3694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18120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+ Confrontation / Progressive Loss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1812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Shoulder Reset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4352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18120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Longform Native (#46 Text)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53492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We convert with longform native storytelling, first-person voice, mechanism-led belief shifts, and peer narrators. The ads that work sound like a real person — not a brand.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ICPs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mechanism, different entry points. Each ICP walks in through a different door — fear, money, identity, or being dismissed.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320040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They 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Enter 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1: Reluctant Surgery Candidate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4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 60–70, told she needs surgery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surgery. She's on the countdown and dreading 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3: Active Woman Losing 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+ 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 50–65, financially stressed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Money. She's spent $3,000+ on treatments that didn't work.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5: Perimenopausal Woman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 52, working professional, 8mo dismissed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believed. Every male specialist got it wrong.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6: Males 65+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4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65–70, retired tradesman or ex-sportsman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loss. Can't get in the ute, mates stopped asking.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2: Rotator Cuff 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 50–65, surgery 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paralysis. Weighing $5,200+ she's not sure she needs.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Pain Sufferer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 55–65, months without full sleep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Exhaustion. The pain is bad. The sleep deprivation is worse.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55778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577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write one ad for everyone. We write one story structure and change the entry point. ICP 1 walks in through fear. ICP 3 through money. ICP 6 through identity. The mechanism and voice stay the same.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Per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emotional territories we write in. This is what our winners keep coming back 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AF2E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54480"/>
            <a:ext cx="1243584" cy="292608"/>
          </a:xfrm>
          <a:prstGeom prst="roundRect">
            <a:avLst>
              <a:gd name="adj" fmla="val 12500"/>
            </a:avLst>
          </a:prstGeom>
          <a:solidFill>
            <a:srgbClr val="A64B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avoidance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core. She's on the waiting list and looking for a reason not to go through with it.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function recovery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 collapse, can't put socks on, can't get on the floor with grandchildren.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relief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surgery vs $149 belt. The maths does the selling for us.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4:45am dark kitchen with a heat pack. Secondary to surgery but always present.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identity loss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Untapped. The ute, the shed, the golf, the pub. Stoic men who won't admit the pain.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D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55448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D6B8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54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BELT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function loss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core. Can't reach the top shelf. Can't do her bra. Independence in centimetres.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pain / sleep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customer theme (74 reviews). Wakes at 2am. Hasn't slept on that side in months.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believed / gender gap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 dismissed by male specialists. The one female specialist listened.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avoidance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"Try 30 days before you commit to 6 months of recovery."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Cortisone dependency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shot lasted 6 weeks. Second lasted 3. She's trapped in the cycle.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5321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532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products share the same architecture — something was taken away, the system couldn't fix it, and we give it back. The use case determines which loss we lead with.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Audience Sits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 how to write — story for Problem Aware, reframe for Solution Aware, proof for Product Aware.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243584" cy="292608"/>
          </a:xfrm>
          <a:prstGeom prst="roundRect">
            <a:avLst>
              <a:gd name="adj" fmla="val 12500"/>
            </a:avLst>
          </a:prstGeom>
          <a:solidFill>
            <a:srgbClr val="A64B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616952" cy="365760"/>
          </a:xfrm>
          <a:prstGeom prst="roundRect">
            <a:avLst>
              <a:gd name="adj" fmla="val 10000"/>
            </a:avLst>
          </a:prstGeom>
          <a:solidFill>
            <a:srgbClr val="A64B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Problem Aware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02752" y="187452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A67A1F"/>
          </a:solidFill>
          <a:ln/>
        </p:spPr>
      </p:sp>
      <p:sp>
        <p:nvSpPr>
          <p:cNvPr id="10" name="Text 8"/>
          <p:cNvSpPr/>
          <p:nvPr/>
        </p:nvSpPr>
        <p:spPr>
          <a:xfrm>
            <a:off x="8302752" y="18745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Sol Aware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24744" y="1874520"/>
            <a:ext cx="996696" cy="365760"/>
          </a:xfrm>
          <a:prstGeom prst="roundRect">
            <a:avLst>
              <a:gd name="adj" fmla="val 10000"/>
            </a:avLst>
          </a:prstGeom>
          <a:solidFill>
            <a:srgbClr val="1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24744" y="187452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hip belt audience knows the pain but doesn't know a non-surgical solution exists. They've been told it's bone-on-bone and the only fix is surgery. We're writing to people who haven't heard of us — that's why the story does the heavy lifting.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D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BELT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6528816" cy="365760"/>
          </a:xfrm>
          <a:prstGeom prst="roundRect">
            <a:avLst>
              <a:gd name="adj" fmla="val 10000"/>
            </a:avLst>
          </a:prstGeom>
          <a:solidFill>
            <a:srgbClr val="2D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6528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Problem Aware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14616" y="3703320"/>
            <a:ext cx="2720340" cy="365760"/>
          </a:xfrm>
          <a:prstGeom prst="roundRect">
            <a:avLst>
              <a:gd name="adj" fmla="val 10000"/>
            </a:avLst>
          </a:prstGeom>
          <a:solidFill>
            <a:srgbClr val="A67A1F"/>
          </a:solidFill>
          <a:ln/>
        </p:spPr>
      </p:sp>
      <p:sp>
        <p:nvSpPr>
          <p:cNvPr id="19" name="Text 17"/>
          <p:cNvSpPr/>
          <p:nvPr/>
        </p:nvSpPr>
        <p:spPr>
          <a:xfrm>
            <a:off x="7214616" y="3703320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Sol Aware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980676" y="3703320"/>
            <a:ext cx="1540764" cy="365760"/>
          </a:xfrm>
          <a:prstGeom prst="roundRect">
            <a:avLst>
              <a:gd name="adj" fmla="val 10000"/>
            </a:avLst>
          </a:prstGeom>
          <a:solidFill>
            <a:srgbClr val="1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9980676" y="3703320"/>
            <a:ext cx="1540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Prod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has a slightly more educated audience. More have tried physio, cortisone, and specialists — so a bigger chunk is Solution Aware. The Problem Aware majority still hasn't connected their pain to the hormonal-inflammatory pathway.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21208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 gets the full story. Solution Aware gets the reframe — 'you've been treating the wrong thing at the wrong depth.' Product Aware gets proof — social proof, testimonials, trust badges.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19-Beat Story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get into the beats themselves — why we use them and where they came from.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native ads that follow a specific emotional arc — problem, failed attempts, accidental discovery, mechanism, proof, close — consistently outperform ads that skip steps. The reader needs to go through each emotional stage before they're ready to buy.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Came From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19-beat structure draws on direct response copywriting principles — particularly Eugene Schwartz's work on awareness levels and market sophistication. We codified it by reverse-engineering our winning ads (AD 2, AD 8, AD 1, AD 4) to identify exactly which beats they hit and in what order.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to Know This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language, everyone describes the same structure differently. "The bit where she cries" is Beat 7. "The part where Denise explains it" is Beat 9. The 19-beat map gives us a common vocabulary so we can diagnose why an ad is underperforming, brief a writer precisely, and iterate without losing what works.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03504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222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guide, not a rulebook. Not every ad uses all 19 beats. We use it as a checklist, not a straitjacket.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926080" cy="320040"/>
          </a:xfrm>
          <a:prstGeom prst="roundRect">
            <a:avLst>
              <a:gd name="adj" fmla="val 11429"/>
            </a:avLst>
          </a:prstGeom>
          <a:solidFill>
            <a:srgbClr val="EDF3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THE 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We have 3 seconds. The open earns the right to be read. If we lose them here, nothing else matters.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scroll. Create a contradiction or knowledge gap they must resolve.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Peer, not authority. "My name is Maggie. I'm 64." Instant trust.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Crisis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humiliation — public to private. Each scene quieter and more personal.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06324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Systemic 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failed them. The "at your age" dismissal from GP, surgeon, physio.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926080" cy="320040"/>
          </a:xfrm>
          <a:prstGeom prst="roundRect">
            <a:avLst>
              <a:gd name="adj" fmla="val 11429"/>
            </a:avLst>
          </a:prstGeom>
          <a:solidFill>
            <a:srgbClr val="EDF3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THE BREAK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This is where belief shifts. The reader stops defending the old solution and opens up to a new 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Lies / Myths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Only used in authority-angle ads, not storytelling format.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864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152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4152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Attempts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152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list. Anti-inflammatories, TENS, pillow, physio, stretches. The length IS the proof.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7720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6008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6008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Low Point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008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moments — the obvious cry and the quieter gut punch. Both stay.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/ Discovery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Accidental. Denise arrives for tea, watches Maggie lever out of the armchair. Not "I found it online."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8640" y="306324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4152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41520" y="3429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Proof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41520" y="37490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friend explains the mechanism. Credible but not clinical. Over tea, not in a white coat.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926080" cy="320040"/>
          </a:xfrm>
          <a:prstGeom prst="roundRect">
            <a:avLst>
              <a:gd name="adj" fmla="val 11429"/>
            </a:avLst>
          </a:prstGeom>
          <a:solidFill>
            <a:srgbClr val="EDF3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THE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mechanism IS the sale. If we explain WHY it works and nothing else did, the product introduction writes itself.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chain. Tendons lose blood supply post-menopause, stuck in inflammation loop, painkillers quiet the alarm but don't fix tissue.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864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152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4152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Version Fails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152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quieten the alarm. They don't get fresh blood into a starved tendon." Alarm vs repair.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7720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6008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6008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008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Numbing/masking/loading vs. driving warmth and blood into the exact spot. mm vs cm depth.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Introduction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therapy belt that wraps right around and does four things at once." Natural, not a spec sheet.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8640" y="306324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4152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41520" y="3429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Results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41520" y="37490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results mirroring crisis in reverse. Sleeping on right side, socks without thinking.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926080" cy="320040"/>
          </a:xfrm>
          <a:prstGeom prst="roundRect">
            <a:avLst>
              <a:gd name="adj" fmla="val 11429"/>
            </a:avLst>
          </a:prstGeom>
          <a:solidFill>
            <a:srgbClr val="EDF3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THE 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story did the selling. The close just needs to not ruin it. Soft CTA, character guarantee, echo close.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witness sees the result. She explained it, now she sees it work. Closes the proof loop.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864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152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4152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Proof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152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since heard from other women who..." Personal, not a statistic. One line is enough.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77200" y="137160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6008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60080" y="1737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0080" y="20574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in-voice. "It may not be as finished as you have been told." No hard sell.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beat. "30 day money back promise, so I figured I could send it back and feel smug about it."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8640" y="3063240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4152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41520" y="3429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Close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41520" y="37490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wish someone had told me eighteen months ago. So now I'm telling you. Try it yourself."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Phases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5448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2D5F8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attention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74320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A67A1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old belief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93192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1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new 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512064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A64B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303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without selling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ad isn't converting, we check which phase is leaking — and that tells us exactly which beats to fix.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Beats Each Winner Uses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 uses all 19. Here's what our winners actually hit — and where the gaps are. The gaps are our opportunities.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320040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Present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2 "The 14 Month"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4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Belt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1–4, 6–14, 17–19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Beat 15 (validation) &amp; absent Beat 16 (social proof)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8 "The Specialist"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4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Belt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1–4, 6, 8–10, 13–14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Beat 17 (CTA) &amp; Beat 18 (guarantee)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1 "Kitchen Shelf"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1–4, 6–10, 13–14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Beat 15 (validation) &amp; absent Beat 16 (social proof)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4 "Forty-Five Minutes"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1–4, 6–14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Beat 18 (guarantee). Best mechanism section.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420624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clear: our winners are strong on Phase 1–3 but consistently weak on the close. We don't need to rewrite these ads — we need to finish them.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Can Improve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leaving money on the table by skipping the close. Here's what we should be testing: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Beat 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2 and AD 1 both underperform here. Adding a witness-reaction moment (Denise sees the improvement) closes the proof loop.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Beat 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Proof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in AD 2 and AD 1. One personal line — "I've since heard from other women who..." — is enough. Not a statistic.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Beat 17 &amp; 18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 &amp; Guarantee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8 is missing both. The ad just stops. Adding a soft CTA and character-driven guarantee should lift conversion without changing what works.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7607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7607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Beats 15–18, and we should see the lift. The story is doing the work — we're just finishing what's already there.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Format-Changing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crack new formats from proven winners. The DNA stays — the container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AFA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→ Video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Native  →  Compress Script  →  B-Roll + Voice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longform native ad IS the script. We compress from 1,500+ words to 800–1,200, map each beat to a visual, and add AI voiceover.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VSL, UGC Video, B-Roll + Captions.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AFAF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→ Static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Native  →  Extract 2–3 Beats  →  Single Image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has room for 2–3 beats max. We pick the strongest — usually Hook + Result or Hook + Mechanism — and compress into one frame.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language, same voice, smaller container.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ED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vs Advertorial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winners are all native (first-person storytelling, looks organic). Advertorial is a different voice (third-person editorial, links to LP). Same mechanism, different container. We start with native because that's what's proven.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62356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23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We never invent from scratch. Every new format starts from a winning native ad. The story, mechanism, and voice are locked. Only the delivery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Priority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one variable at a time, starting from what's proven. This is our order.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Use case / 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Emotional entry point (fear, money, identity, sleep)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 structure, mechanism, 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line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body, beats, ICP,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Narrator (woman 64 → man 68 → professional 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Structure, mechanism, voice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Beat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missing beats (guarantee, social proof, validation)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that's already 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(native → video → static)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DNA, mechanism, 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97280" y="47548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0" y="4754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63240" y="47548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/>
        </p:spPr>
      </p:sp>
      <p:sp>
        <p:nvSpPr>
          <p:cNvPr id="10" name="Text 7"/>
          <p:cNvSpPr/>
          <p:nvPr/>
        </p:nvSpPr>
        <p:spPr>
          <a:xfrm>
            <a:off x="306324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26280" y="4754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0" y="47548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4754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95160" y="47548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Fixes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58200" y="4754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61120" y="47548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080" y="544068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440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change the hook AND the ICP AND the angle at the same time, we learn nothing about what worked. One variable, one test. That's how we build compounding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&amp; Scenes That Convert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below comes from our winning ads. They've been tested. They convert. We swap scenes but keep the register.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AFA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LANGUAGE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"bone on bone"  ·  "at your age"  ·  "deep ache on the side"  ·  "stabbing when they stand"  ·  "can't sleep on their side"  ·  "kerb collapse"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"can't reach the top shelf"  ·  "wakes at 2am every night"  ·  "frozen shoulder"  ·  "rotator cuff"  ·  "shoulder deteriorating for months"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AFAF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TREATMENT 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783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"anti-inflammatories"  ·  "cortisone"  ·  "physio"  ·  "heat pack"  ·  "TENS machine"  ·  "special pillow"  ·  "tennis ball"  ·  "stretches every morning"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"cortisone wore off faster each time"  ·  "$2,400 on wrong answers"  ·  "male specialists got it wrong"  ·  "do your exercises"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AFA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LANGUAGE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"soft tissue"  ·  "starved of blood supply"  ·  "inflammation loop"  ·  "the alarm vs the repair"  ·  "the wrong target, the wrong depth"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"4–5cm deep"  ·  "heat packs reach 1–3mm"  ·  "oestrogen drop"  ·  "hormonal-inflammatory pathway"  ·  "660nm + 850nm"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AFA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LANGUAGE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4389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"slept on my right side"  ·  "stiffness shortened"  ·  "socks without thinking"  ·  "got on the floor with my granddaughter"  ·  "kerb pain fading"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"slept through the night"  ·  "on her bad side"  ·  "reached the top shelf"  ·  "270 nights"  ·  "she cried"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Scenes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AFA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280160"/>
            <a:ext cx="54864" cy="274320"/>
          </a:xfrm>
          <a:prstGeom prst="roundRect">
            <a:avLst>
              <a:gd name="adj" fmla="val 33333"/>
            </a:avLst>
          </a:prstGeom>
          <a:solidFill>
            <a:srgbClr val="A64B2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(QUIET SHAME)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home and cried in the driveway  ·  John started doing the grocery runs without telling me  ·  4:45am dark kitchen with a heat pack  ·  Beaten by a sock  ·  Can't reach the shelf she used to reach without thinking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AFAF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971800"/>
            <a:ext cx="54864" cy="274320"/>
          </a:xfrm>
          <a:prstGeom prst="roundRect">
            <a:avLst>
              <a:gd name="adj" fmla="val 33333"/>
            </a:avLst>
          </a:prstGeom>
          <a:solidFill>
            <a:srgbClr val="2D5F8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(ACCIDENTAL)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Denise arrives for a cup of tea  ·  Watches her lever out of the armchair  ·  Says nothing for a moment  ·  Retired theatre nurse, 30 years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AFA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663440"/>
            <a:ext cx="54864" cy="274320"/>
          </a:xfrm>
          <a:prstGeom prst="roundRect">
            <a:avLst>
              <a:gd name="adj" fmla="val 33333"/>
            </a:avLst>
          </a:prstGeom>
          <a:solidFill>
            <a:srgbClr val="1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(SOFT)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4983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 smug about it"  ·  "It may not be as finished as you have been told"  ·  "So now I'm telling you"  ·  "Try it yourself"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2179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62179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6217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swap scenes but keep the register. "Beaten by a sock" is hip. The shoulder equivalent might be "beaten by a seatbelt." Same emotional weight, different physical detail.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Types That Convert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hook has one job: create a contradiction or knowledge gap the reader MUST resolve.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Use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14 month wait turned out to be the best thing..."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2 (Hip) — strongest proven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Empathy + Confrontation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specialist gave me the pre-admission paperwork on a Thursday."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8 (Hip) · AD 4 (Shoulder)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"Physio said it would settle. Eleven months later, she can't reach the top shelf."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1 (Shoulder)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Confrontation (Authority)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"Hip surgeon with 22 years says most replacements were unnecessary."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Authority-angle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Reframe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"$25,000 for surgery. $149 for a belt. One treats the actual problem."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Financial-angle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 Knowledge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still haven't told my surgeon."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variant for iterations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"Try 30 days before you commit to 6 months of recovery."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Pre-surgery window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562356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623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default: Impossible Result is the proven winner. When writing a new brief and unsure which hook to use, we start there. If it doesn't create a contradiction or gap, it's not a hook.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365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IS the ad. If it sounds like an ad, it fails. If it sounds like someone at our reader's kitchen table, it converts.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 throughout. No third-person breaks.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 when emotional. Longer when explaining.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details over emotional labels. "I couldn't get the sock on" — not "I felt helpless."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exclamation marks. No ALL CAPS. No sales language.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humiliation: public to private. The quiet moments land hardest.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discovery: cup of tea, not Google.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as character: "feel smug about it."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close: "So now I'm telling you." Turns the reader into the next narrator.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0" y="1371600"/>
            <a:ext cx="4389120" cy="4114800"/>
          </a:xfrm>
          <a:prstGeom prst="roundRect">
            <a:avLst>
              <a:gd name="adj" fmla="val 1333"/>
            </a:avLst>
          </a:prstGeom>
          <a:solidFill>
            <a:srgbClr val="FAFAF8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WALLS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6092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never change. Remove one and the architecture collapses: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21945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humiliation arc (public to private)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Driveway cry + John grocery moment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discovery (cup of tea)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mechanism chain (friend delivers it)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as character beat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close ("So now I'm telling you")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CTA (never hard sell)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5760720"/>
            <a:ext cx="54864" cy="82296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7607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draft out loud. If any sentence sounds like a copywriter wrote it, we rewrite it. If we'd be embarrassed to say it over tea, we delete 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HeartHealthCo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Ad DNA — Hip Belt + Shoulder Belt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Clients  ·  Creative DNA Reference  ·  Aug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243584" cy="292608"/>
          </a:xfrm>
          <a:prstGeom prst="roundRect">
            <a:avLst>
              <a:gd name="adj" fmla="val 12500"/>
            </a:avLst>
          </a:prstGeom>
          <a:solidFill>
            <a:srgbClr val="A64B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BELT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384048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D6B8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3840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BELT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2026-08-16T17:13:39Z</dcterms:created>
  <dcterms:modified xsi:type="dcterms:W3CDTF">2026-08-16T17:13:39Z</dcterms:modified>
</cp:coreProperties>
</file>