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CLIENTS  ·  HEARTHEALTHCO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Ad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review of competitors, their Meta ads, category patterns,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whitespace, and swipe concepts for HeartHealthCo.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16 August 2026  ·  Meta Ad Library: country=ALL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COMPETITORS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448056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B0413E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ACTIVE ADS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4480560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1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SWIPE CONCEPTS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Matters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Daywick is the immediate conversion threat — closest hip product, ~190 active ads, aggressive symptom-specific advertorials.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DF0EF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" y="1371600"/>
            <a:ext cx="54864" cy="822960"/>
          </a:xfrm>
          <a:prstGeom prst="roundRect">
            <a:avLst>
              <a:gd name="adj" fmla="val 33333"/>
            </a:avLst>
          </a:prstGeom>
          <a:solidFill>
            <a:srgbClr val="B041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Daywick is the immediate conversion threat because it sells the closest hip product with roughly 190 active ads and aggressive symptom-specific advertorials.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PATTERN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funnel starts with a recognizable symptom, introduces a deeper mechanism, then moves to proof, product demonstration, guarantee, and an advertorial, quiz, or product page.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STRATEGIC OPENING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Australian, anatomy-specific four-mode therapy for adults 45+: 660nm red light, 850nm near-infrared light, controlled heat, and vibration in a wearable designed specifically for the shoulder or hip.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D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first test: a three-format matrix for each body area — one 9-15s symptom hook, one 30-45s customer demonstration, and one static mechanism comparison — each routed to its symptom-specific landing page.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80644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806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Counts use Meta's country=ALL view. Landing pages are unique active destinations observed. High-volume accounts are lower-bound counts.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how directly each competitor threatens our hip belt and shoulder belt conversion.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FDF0E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B041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Daywick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~190 ads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FB pages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LPs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64592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product. Strongest direct-response hip funnel. Symptom-specific advertorials.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029968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FDF0E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17627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B0413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176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Kineon MOVE+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2075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~620 ads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FB pages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075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LPs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230428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premium mechanism. Production quality. Full-funnel strategy.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688336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FBF6E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28346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D4731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EliteRelief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2734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ads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2734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FB pages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734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57400" y="2962656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Australian competitor. TGA-registered. Cordless convenience.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46704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F3F3F0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493008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A67A1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5740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FlexBeam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ads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3392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FB pages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392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LPs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57400" y="362102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authority and creator-partnership distribution model.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005072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F3F3F0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" y="4151376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A67A1F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4151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5740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NovaaLab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389120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 ads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0" y="4050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FB pages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LPs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057400" y="427939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shoulder-compatible product. Outcome guarantees. Sport segmentation.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4663440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FAFAF8"/>
          </a:solidFill>
          <a:ln/>
        </p:spPr>
      </p:sp>
      <p:sp>
        <p:nvSpPr>
          <p:cNvPr id="46" name="Shape 44"/>
          <p:cNvSpPr/>
          <p:nvPr/>
        </p:nvSpPr>
        <p:spPr>
          <a:xfrm>
            <a:off x="777240" y="4809744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7A7A82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57400" y="4709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Tommie Copper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3891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~190 ads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0" y="4709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FB pages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4709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LPs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57400" y="493776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retail footprint but different compression-led mechanism.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5321808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FAFAF8"/>
          </a:solidFill>
          <a:ln/>
        </p:spPr>
      </p:sp>
      <p:sp>
        <p:nvSpPr>
          <p:cNvPr id="54" name="Shape 52"/>
          <p:cNvSpPr/>
          <p:nvPr/>
        </p:nvSpPr>
        <p:spPr>
          <a:xfrm>
            <a:off x="777240" y="546811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7A7A82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5468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057400" y="5367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Sweevly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389120" y="5367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ads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03520" y="5367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FB pages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5367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LPs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057400" y="559612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spend on foot drop, not hip belt. Monthly check only.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" y="608076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2" name="Shape 60"/>
          <p:cNvSpPr/>
          <p:nvPr/>
        </p:nvSpPr>
        <p:spPr>
          <a:xfrm>
            <a:off x="640080" y="608076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63" name="Text 61"/>
          <p:cNvSpPr/>
          <p:nvPr/>
        </p:nvSpPr>
        <p:spPr>
          <a:xfrm>
            <a:off x="914400" y="6080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Daywick and Kineon are the two we watch closest. Daywick for direct hip competition, Kineon for premium positioning and production quality we should learn from.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Watchlist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have 30 minutes — these are the five ads worth studying.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88720" y="15087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B0413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DAYWICK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1435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buttock pain clue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755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 Symptom-specific hook, misdiagnosis angle, and advertorial transition.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88720" y="237744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B041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DAYWICK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23042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his PT explained about sciatica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624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 Authority story, failed-treatment narrative, and pain-loop mechanism.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32461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B0413E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31729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runs deep (9-second ad)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 Extremely concise hook, deep-treatment positioning, and product demonstration.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88720" y="411480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4731A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ELITERELIEF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97480" y="40416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Cordless, TGA-registered Pro Belt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3616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 Australian trust, shoulder inclusion, portability, and concise proof.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4937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88720" y="498348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B0413E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4983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40280" y="49103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mechanism explainer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52303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 Temporary-relief vs source framing, educational structure, premium positioning.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580644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806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reviewing: focus on the hook, problem framing, mechanism explanation, proof, offer, and transition to the landing page. Dark-ad warning: Daywick ads may not have public post permalinks.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011680" cy="320040"/>
          </a:xfrm>
          <a:prstGeom prst="roundRect">
            <a:avLst>
              <a:gd name="adj" fmla="val 11429"/>
            </a:avLst>
          </a:prstGeom>
          <a:solidFill>
            <a:srgbClr val="FDF0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THREAT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Daywick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~190 active ads  ·  1 FB page  ·  6+ landing pages  ·  daywick.com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ANGLE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hip or sciatica diagnosis may be wrong. Pain after sitting, deep-buttock pain, piriformis, moving pain, failed doctors/PT, and the pain loop.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Long-copy static ads leading to advertorials, with many copy and landing-page permutations.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&amp; USE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2606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50+ with hip, glute, or sciatic discomfort. Main use cases: sitting, driving, sleeping, and first-step pain.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PATH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Problem-aware → new-mechanism aware → advertorial → product page.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39776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massage/vibration, compression, and 660nm red light positioned as breaking an inflammation, guarding, and circulation loop.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TEST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46634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microsegments, medical-story hooks, X-ray and PT failure, different advertorials, label-versus-pattern framing, and multiple pain-loop explanations.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7607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607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Daywick is our closest mirror — same four-therapy approach, same hip audience. Their advertorial game is aggressive. We need to study their symptom microsegmentation.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011680" cy="320040"/>
          </a:xfrm>
          <a:prstGeom prst="roundRect">
            <a:avLst>
              <a:gd name="adj" fmla="val 11429"/>
            </a:avLst>
          </a:prstGeom>
          <a:solidFill>
            <a:srgbClr val="FDF0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THREAT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Kineon MOVE+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 main + ~390 partner ads  ·  7+ FB pages  ·  5+ landing pages  ·  kineon.io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ANGLE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"Pain runs deep. So do we." Clinical-grade recovery at the source rather than temporary pills, creams, or appointments.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9s hooks, 24-60s UGC, 1-3min explainers, static, carousel, founder, creator, and partnership ads.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&amp; USE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2606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active adults 35-65, athletes, runners, and chronic joint-pain customers.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PATH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funnel: problem-aware content → quiz, runner, or creator advertorial → product page and retargeting.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39776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660nm LED plus 808nm near-infrared laser with modular, targeted, deeper-treatment positioning.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TEST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46634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vs long video, quiz vs direct product page, runner pages, Lance Armstrong advertorial, creator pages, mechanism vs testimonial, discount/bundle combos.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7607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607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Kineon is the production benchmark. Their 9-second hooks and full-funnel quiz strategy are what premium looks like in this category. We learn format execution from them.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FBF6E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94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EliteRelief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active ads  ·  2+ FB pages  ·  7 landing pages  ·  eliterelief.com.au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ANGLE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red-light therapy at home, with natural relief, Australian trust, cordless convenience, and TGA registration.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Video-heavy: short demonstrations, testimonials, explainers, creator ads, and some static.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&amp; USE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2606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adults with back, knee, or shoulder discomfort who want an affordable wearable option.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PATH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solution-aware or product-aware → product, collection, or sale page.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39776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and infrared light positioned around inflammation, circulation, and recovery; Pro Belt adds cordless portability.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9144"/>
          </a:xfrm>
          <a:prstGeom prst="rect">
            <a:avLst/>
          </a:prstGeom>
          <a:solidFill>
            <a:srgbClr val="DDDD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TEST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46634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vs 50% offers, belt vs panel vs wrap, 15K vs 20K customer proof, explainer vs testimonial, creator whitelisting.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7607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607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EliteRelief owns the Australian trust lane. Their TGA registration, cordless form factor, and local service messaging are the signals we need to match or beat.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Threats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2801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A67A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NovaaLab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 ads  ·  3+ FB pages  ·  15+ LPs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 Pain relief + athletic recovery, outcome guarantees.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Chronic-pain adults 40+ AND serious athletes/CrossFit.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Flexible 660nm/850nm light pads. Cellular energy, circulation, inflammation.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Pain vs performance, product guarantees, sport LPs, HSA/FSA, athlete partnerships.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A6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Shoulder-compatible threat: flexible pads fit shoulder use case.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2801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A67A1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694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FlexBeam / Recharge.Health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16002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ads  ·  15+ creator/partner pages  ·  6+ LPs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19202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 "Your body. Just better." Targeted portable light therapy backed by experts.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Health-conscious adults, athletes, biohackers, midlife chronic-pain.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Wearable targeted red/near-infrared. Mitochondrial energy, recovery, pain.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Doctor vs athlete vs lifestyle creator, 5-20% creator codes, pain vs sleep vs recovery.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A6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threat: 15+ partner pages is the strongest distribution model in the category.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5321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5321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NovaaLab's sport segmentation and FlexBeam's creator model are both strategies we could adapt. Neither is a direct threat today, but both are expanding into our territory.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Threats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mechanisms or different focus. Worth monitoring, not worth losing sleep over.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AFA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0876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7A7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Tommie Copper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~190 brand-wide ads  ·  1 FB page  ·  17+ LPs  ·  tommiecopper.com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wellness for everyday compression, posture, and support.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compression and structured support. Copper Znergy is primarily fabric/odor.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Mass-market midlife adults. Catalog/dynamic-product ads, celebrity content (Christopher Meloni), retail/Walmart routes.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mechanism and customer journey. Some ads now cross-sell infrared products.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FAFA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8862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7A7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3813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Sweevly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206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active ads  ·  1 FB page  ·  1 landing page  ·  sweevly.com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advertising promotes LiftX for foot drop, not its hip therapy belt.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foot drop or toe dragging, plus caregivers.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non-advertised hip belt uses a Daywick-like four-therapy pain-loop mechanism. Check monthly.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80644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806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Tommie Copper's infrared cross-sell and Sweevly's dormant hip belt are watch items. If either pivots into our lane, we'll know from their ad library.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everyone in this market is doing. The dominant funnel is nearly identical across competitors.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235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Market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At-home technology that addresses discomfort at the source.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pills, appointments, temporary treatments, and disruption to daily life.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hook video, UGC or testimonial, static mechanism graphic, and longer education or advertorial.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 40-65 with chronic discomfort; secondary segment is athletes and active adults.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10-20 minutes while sitting, working, watching TV, or recovering after exercise.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Symptom-led for cold. Mechanism + proof for warm. Discount, guarantee, testimonial for hot.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Advertorial or quiz for cold traffic; direct product page or secret-sale page for warmer audiences.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Red/NIR light → mitochondrial energy/ATP → circulation, recovery, inflammation. Budget belts add heat, vibration, compression.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10-50% discounts, free shipping, 30-60 day guarantees. Premium: HSA/FSA, long warranties, expert proof.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580644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806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is commoditized. Everyone follows symptom → mechanism → proof → product → guarantee. Our edge isn't a different funnel — it's better storytelling inside the same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competitor positions their technology vs ours.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2286000"/>
                <a:gridCol w="3749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HeartHealthCo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Daywick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+ massage/vibration + compression + 660nm red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 pain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mirror. Same 4-therapy approach.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660nm LED + 808nm NIR laser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Deeper, clinical-grade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7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Premium. No heat/vibration but laser &gt; LED claim.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EliteRelief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+ infrared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at home, TGA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7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Cordless + Australian trust is their edge.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NovaaLab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660nm + 850nm flexible pads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Cellular energy + repair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pads = shoulder-compatible threat.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+ NIR wearable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Mitochondrial 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distribution, not tech superiority.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Tommie 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+ copper fabric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mechanism entirely.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HeartHealthCo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660nm + 850nm + heat + vibration (4-mode)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Tissue/Shoulder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Anatomy-specific. Australian. 4 therapies.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539496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394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combines all four modes in an anatomy-specific wearable. That's our positioning: not just light therapy, but the right light, heat, and vibration, aimed at the exact spot, designed for that joint.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Whitespace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lane for HeartHealthCo.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222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Australian, anatomy-specific four-mode therapy for adults 45+ — combining deep 850nm near-infrared light with red light, controlled heat, and vibration in a wearable designed specifically for the shoulder or hip.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9144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functional outcomes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on the affected side, fastening a bra, reaching a shelf, getting out of a chair, walking through the first difficult steps.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anatomy-specific fit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pads and panels that move or require the user to hold them in place.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transparent proof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TGA listing, exact wavelengths, irradiance, dose, battery duration, fit measurements, clear protocol.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Australian service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shipping, support, and warranty against global/dropship-looking competitors.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dedicated symptom segments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shoulder, rotator cuff, bursitis, side-sleeping hip, piriformis/sciatica-like symptoms.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60-day trial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the current 30-day guarantee if operationally viable.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6035040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2A221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6035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note: 'Surgeon exposes' and 'surgeries were unnecessary' claims carry trust and advertising-compliance risk. The larger whitespace is credible, verifiable education.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Swipe Concepts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ideas to test, built from what we see working across the category.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447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2:00 a.m. Shoulder Test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41280" y="14813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2D6B8A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755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discomfort → reaching, bra, or seatbelt symptoms → short demonstration → SB1.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50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3134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Chair Test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98480" y="2350008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A64B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0" y="2350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2624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first three steps after sitting reveal about hip discomfort → HB1.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18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182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vs Deep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607040" y="321868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comparison of cream/heat-only relief against 660nm + 850nm + heat + vibration.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87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050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Wearable, Four Jobs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607040" y="408736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7040" y="4087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43616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product teardown showing each mode separately.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956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9194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Pad vs Anatomy-Specific Fit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607040" y="495604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7040" y="49560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52303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slipping, hands-free use, and treatment coverage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Swipe Concepts (continued)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07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1704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Thirty-Day Mobility Diary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607040" y="120700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1207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sleep, range-of-motion, and daily-function updates from a real customer.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75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039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 Myth-Busting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07040" y="207568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0" y="2075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350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named expert, disclosed credentials, and linked evidence.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907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Australian Trust Creative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07040" y="294436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32186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TGA, local support, delivery, warranty, and guarantee in one proof-first ad.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13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7764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or Soft Tissue? Quiz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07040" y="381304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10607040" y="38130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40873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Symptom-based shoulder and hip routing into the correct funnel.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AFAF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81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46451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Three-Stage Retargeting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607040" y="468172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D5F8A"/>
          </a:solidFill>
          <a:ln/>
        </p:spPr>
      </p:sp>
      <p:sp>
        <p:nvSpPr>
          <p:cNvPr id="31" name="Text 29"/>
          <p:cNvSpPr/>
          <p:nvPr/>
        </p:nvSpPr>
        <p:spPr>
          <a:xfrm>
            <a:off x="10607040" y="4681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49560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hook → mechanism explainer → testimonial, proof, and offer.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562356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623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random. Each concept is built from a pattern we see converting across competitors. The 2:00am Shoulder Test and The Chair Test are the highest-priority first tests.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Test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formats per body area. Route each to its symptom-specific landing page.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47472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9-15 sec 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30-45 sec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 a.m. night symptom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Reaching, bra, or seatbelt demonstration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versus deep 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4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three steps after sitting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Chair-to-walking customer demonstration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Anatomy-specific fit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283464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EDF4F8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97180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2D6B8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to: hearthealthco.com.au/pages/sb1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283464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AF2EE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9718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A64B2A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379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to: hearthealthco.com.au/pages/hb1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9319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EDF3F8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offer, audience, and landing page constant inside each body-area test.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hook rate, CTR, landing-page views, add-to-cart rate, and conversion rate.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WATCH CLOSELY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Sweevly foot-drop ads (not our market)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Tommie Copper compression/catalog ads (different mechanism)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NovaaLab oral-care and foot-boot campaigns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FlexBeam creator duplicates after the model is clear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HeartHealthCo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Ad Intelligence — Aug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competitors  ·  12 active ads tracked  ·  10 swipe concepts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A64B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BELT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384048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2D6B8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BELT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Clients  ·  Snapshot: 16 August 2026  ·  Meta Ad Library: country=ALL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2026-08-16T18:02:28Z</dcterms:created>
  <dcterms:modified xsi:type="dcterms:W3CDTF">2026-08-16T18:02:28Z</dcterms:modified>
</cp:coreProperties>
</file>